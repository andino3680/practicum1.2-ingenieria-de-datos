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9362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Portada: presentarse y decir que el trabajo trata de convertir datos públicos dispersos en un tablero claro para análisis.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Problema: recalcar que el reto no fue solo graficar; primero había que preparar datos de varias fuentes con formatos distintos.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explicar las tres preguntas como guía del tablero, sin entrar en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hicimos: explicar que se procesaron los datos, se armaron 14 tablas Silver, 10 conjuntos Gold y se consolidó todo en gold_macroentorno.xlsx para Power 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Página 1: explicar PIB, variación y clasificación del ciclo. Señalar la lectura rápida del gráfico.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Página 2: explicar provincia con mayor actividad, sector con mayor actividad y sector con mayor empleo.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Página 3: explicar la relación entre bachilleres y empresas. Mencionar que permite comparar presencia estudiantil y empresarial.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Obstáculos: explicar rápido que los problemas principales fueron de formato, nombres y peso de archivos, y que cada uno se resolvió con limpieza, Excel y control de Git.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resumir en tres ideas: integrar, preparar y visualizar datos para responder preguntas concretas.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3C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749808" cy="329184"/>
          </a:xfrm>
          <a:prstGeom prst="rect">
            <a:avLst/>
          </a:prstGeom>
          <a:solidFill>
            <a:srgbClr val="0A5274"/>
          </a:solidFill>
          <a:ln w="12700">
            <a:solidFill>
              <a:srgbClr val="7CBEE0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585216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UTPL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572768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Dirección General de Tecnologías de la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Información y Transformación Digital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9784080" y="18288"/>
            <a:ext cx="2011680" cy="2011680"/>
          </a:xfrm>
          <a:prstGeom prst="arc">
            <a:avLst/>
          </a:prstGeom>
          <a:solidFill>
            <a:srgbClr val="083C58">
              <a:alpha val="0"/>
            </a:srgbClr>
          </a:solidFill>
          <a:ln w="13970">
            <a:solidFill>
              <a:srgbClr val="D9A834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17152" y="18288"/>
            <a:ext cx="2743200" cy="2743200"/>
          </a:xfrm>
          <a:prstGeom prst="arc">
            <a:avLst/>
          </a:prstGeom>
          <a:solidFill>
            <a:srgbClr val="083C58">
              <a:alpha val="0"/>
            </a:srgbClr>
          </a:solidFill>
          <a:ln w="10160">
            <a:solidFill>
              <a:srgbClr val="D9A834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240280"/>
            <a:ext cx="3063240" cy="228600"/>
          </a:xfrm>
          <a:prstGeom prst="roundRect">
            <a:avLst>
              <a:gd name="adj" fmla="val 8000"/>
            </a:avLst>
          </a:prstGeom>
          <a:solidFill>
            <a:srgbClr val="083C58">
              <a:alpha val="0"/>
            </a:srgbClr>
          </a:solidFill>
          <a:ln w="10160">
            <a:solidFill>
              <a:srgbClr val="D9A8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86000"/>
            <a:ext cx="2788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D9A8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PRÁCTICUM 1.2 · EXPOSICIÓN FINAL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685800" y="288036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de datos para el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Tablero del Macroentorno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Ecuatoriano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685800" y="4462272"/>
            <a:ext cx="6949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E5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datos dispersos a respuestas visuales para el análisis institucional.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5596128"/>
            <a:ext cx="2697480" cy="475488"/>
          </a:xfrm>
          <a:prstGeom prst="rect">
            <a:avLst/>
          </a:prstGeom>
          <a:solidFill>
            <a:srgbClr val="134F6A">
              <a:alpha val="88000"/>
            </a:srgbClr>
          </a:solidFill>
          <a:ln w="12700">
            <a:solidFill>
              <a:srgbClr val="286980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" y="5696712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b="1" dirty="0">
                <a:solidFill>
                  <a:srgbClr val="90B7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LÍNEA 03</a:t>
            </a:r>
            <a:endParaRPr lang="en-US" sz="580" dirty="0"/>
          </a:p>
        </p:txBody>
      </p:sp>
      <p:sp>
        <p:nvSpPr>
          <p:cNvPr id="13" name="Text 11"/>
          <p:cNvSpPr/>
          <p:nvPr/>
        </p:nvSpPr>
        <p:spPr>
          <a:xfrm>
            <a:off x="832104" y="5852160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Ingeniería de Datos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3657600" y="5596128"/>
            <a:ext cx="2697480" cy="475488"/>
          </a:xfrm>
          <a:prstGeom prst="rect">
            <a:avLst/>
          </a:prstGeom>
          <a:solidFill>
            <a:srgbClr val="134F6A">
              <a:alpha val="88000"/>
            </a:srgbClr>
          </a:solidFill>
          <a:ln w="12700">
            <a:solidFill>
              <a:srgbClr val="286980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03904" y="5696712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b="1" dirty="0">
                <a:solidFill>
                  <a:srgbClr val="90B7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</a:t>
            </a:r>
            <a:endParaRPr lang="en-US" sz="580" dirty="0"/>
          </a:p>
        </p:txBody>
      </p:sp>
      <p:sp>
        <p:nvSpPr>
          <p:cNvPr id="16" name="Text 14"/>
          <p:cNvSpPr/>
          <p:nvPr/>
        </p:nvSpPr>
        <p:spPr>
          <a:xfrm>
            <a:off x="3803904" y="5852160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Bryan Raúl Andino Alcívar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6629400" y="5596128"/>
            <a:ext cx="2697480" cy="475488"/>
          </a:xfrm>
          <a:prstGeom prst="rect">
            <a:avLst/>
          </a:prstGeom>
          <a:solidFill>
            <a:srgbClr val="134F6A">
              <a:alpha val="88000"/>
            </a:srgbClr>
          </a:solidFill>
          <a:ln w="12700">
            <a:solidFill>
              <a:srgbClr val="286980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75704" y="5696712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b="1" dirty="0">
                <a:solidFill>
                  <a:srgbClr val="90B7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PERIODO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>
            <a:off x="6775704" y="5852160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Julio 2026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B38A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PROBLEMA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2377440" y="475488"/>
            <a:ext cx="9235440" cy="0"/>
          </a:xfrm>
          <a:prstGeom prst="line">
            <a:avLst/>
          </a:prstGeom>
          <a:noFill/>
          <a:ln w="12700">
            <a:solidFill>
              <a:srgbClr val="DD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5895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5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Información dispersa, análisis lento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reto no era solo crear gráficos: primero había que ordenar datos de varias fuentes para poder analizarlos.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178308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blurRad="12700" dist="50800" dir="2700000" algn="bl" rotWithShape="0">
              <a:srgbClr val="C9D3DC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94767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4B7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organismos públicos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12848" y="178308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blurRad="12700" dist="50800" dir="2700000" algn="bl" rotWithShape="0">
              <a:srgbClr val="C9D3DC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95728" y="194767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8F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310 345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395728" y="23774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registros procesados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023360" y="178308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blurRad="12700" dist="50800" dir="2700000" algn="bl" rotWithShape="0">
              <a:srgbClr val="C9D3DC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06240" y="19476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A8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206240" y="2377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del tablero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85800" y="3044952"/>
            <a:ext cx="73152" cy="73152"/>
          </a:xfrm>
          <a:prstGeom prst="ellipse">
            <a:avLst/>
          </a:prstGeom>
          <a:solidFill>
            <a:srgbClr val="D9A834"/>
          </a:solidFill>
          <a:ln w="12700">
            <a:solidFill>
              <a:srgbClr val="D9A8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2971800"/>
            <a:ext cx="4773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26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Había datos económicos, laborales, educativos y empresariales separados.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685800" y="3465576"/>
            <a:ext cx="73152" cy="73152"/>
          </a:xfrm>
          <a:prstGeom prst="ellipse">
            <a:avLst/>
          </a:prstGeom>
          <a:solidFill>
            <a:srgbClr val="D9A834"/>
          </a:solidFill>
          <a:ln w="12700">
            <a:solidFill>
              <a:srgbClr val="D9A8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3392424"/>
            <a:ext cx="4773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26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fuente venía con formatos y nombres diferentes.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685800" y="3886200"/>
            <a:ext cx="73152" cy="73152"/>
          </a:xfrm>
          <a:prstGeom prst="ellipse">
            <a:avLst/>
          </a:prstGeom>
          <a:solidFill>
            <a:srgbClr val="D9A834"/>
          </a:solidFill>
          <a:ln w="12700">
            <a:solidFill>
              <a:srgbClr val="D9A8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813048"/>
            <a:ext cx="4773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26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Necesitábamos dejar la información lista para Power BI, sin rehacer todo manualmente.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6492240" y="1783080"/>
            <a:ext cx="2926080" cy="1874520"/>
          </a:xfrm>
          <a:prstGeom prst="roundRect">
            <a:avLst>
              <a:gd name="adj" fmla="val 2927"/>
            </a:avLst>
          </a:prstGeom>
          <a:solidFill>
            <a:srgbClr val="083C58"/>
          </a:solidFill>
          <a:ln w="12700">
            <a:solidFill>
              <a:srgbClr val="083C5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11696" y="198424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punto de partida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711696" y="2359152"/>
            <a:ext cx="248716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D7E5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datos venían de BCE, INEC, MINEDUC y Supercias. Cada fuente tenía su propio formato; por eso primero había que limpiar, unir y preparar la información.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6492240" y="3913632"/>
            <a:ext cx="489204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416052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9A8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central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720840" y="437083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5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Convertir datos sueltos en información clara para tomar decisiones.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DE5EC">
                <a:alpha val="8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7A8A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PRÁCTICUM 1.2 · INGENIERÍA DE DATOS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9326880" y="651052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7A8A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MACROENTORNO ECUATORIANO · 02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B38A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OBJETIVO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2377440" y="475488"/>
            <a:ext cx="9235440" cy="0"/>
          </a:xfrm>
          <a:prstGeom prst="line">
            <a:avLst/>
          </a:prstGeom>
          <a:noFill/>
          <a:ln w="12700">
            <a:solidFill>
              <a:srgbClr val="DD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5895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5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preguntas guiaron la solución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tablero se diseñó para responder preguntas concretas, no para mostrar datos sin contexto.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097280" y="1828800"/>
            <a:ext cx="2834640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blurRad="12700" dist="50800" dir="2700000" algn="bl" rotWithShape="0">
              <a:srgbClr val="C9D3DC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61872" y="2057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DD7E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61872" y="256032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5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Evolución económica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61872" y="2898648"/>
            <a:ext cx="250545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ha evolucionado la economía ecuatoriana en los últimos 20 años?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1828800"/>
            <a:ext cx="2834640" cy="2743200"/>
          </a:xfrm>
          <a:prstGeom prst="roundRect">
            <a:avLst>
              <a:gd name="adj" fmla="val 1667"/>
            </a:avLst>
          </a:prstGeom>
          <a:solidFill>
            <a:srgbClr val="083C58"/>
          </a:solidFill>
          <a:ln w="12700">
            <a:solidFill>
              <a:srgbClr val="083C58"/>
            </a:solidFill>
            <a:prstDash val="solid"/>
          </a:ln>
          <a:effectLst>
            <a:outerShdw blurRad="12700" dist="50800" dir="2700000" algn="bl" rotWithShape="0">
              <a:srgbClr val="C9D3DC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28032" y="2057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A8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28032" y="256032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y empleo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28032" y="2898648"/>
            <a:ext cx="250545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¿En qué sectores y provincias se concentra la actividad económica y el empleo?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229600" y="1828800"/>
            <a:ext cx="2834640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blurRad="12700" dist="50800" dir="2700000" algn="bl" rotWithShape="0">
              <a:srgbClr val="C9D3DC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94192" y="2057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DD7E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94192" y="256032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5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Bachilleres y empresas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394192" y="2898648"/>
            <a:ext cx="250545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¿Dónde están los bachilleres y cuántas empresas hay por provincia?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0" y="5166360"/>
            <a:ext cx="6675120" cy="411480"/>
          </a:xfrm>
          <a:prstGeom prst="roundRect">
            <a:avLst>
              <a:gd name="adj" fmla="val 11111"/>
            </a:avLst>
          </a:prstGeom>
          <a:solidFill>
            <a:srgbClr val="E9EEF3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0" y="5276088"/>
            <a:ext cx="6309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325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Objetivo: integrar, limpiar y preparar información pública para un tablero institucional de lectura rápida.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DE5EC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7A8A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PRÁCTICUM 1.2 · INGENIERÍA DE DATOS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9326880" y="651052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7A8A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MACROENTORNO ECUATORIANO · 03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B38A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QUÉ HICIMOS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2377440" y="475488"/>
            <a:ext cx="9235440" cy="0"/>
          </a:xfrm>
          <a:prstGeom prst="line">
            <a:avLst/>
          </a:prstGeom>
          <a:noFill/>
          <a:ln w="12700">
            <a:solidFill>
              <a:srgbClr val="DD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5895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5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tablas procesadas a un Excel listo para Power BI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parte importante fue dejar los datos organizados y fáciles de usar en el tablero.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" y="1783080"/>
            <a:ext cx="233172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blurRad="12700" dist="50800" dir="2700000" algn="bl" rotWithShape="0">
              <a:srgbClr val="C9D3DC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965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A8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31343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325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procesados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868680" y="265176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limpiaron y ordenaron los datos base.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3081528" y="23317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AA7B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474720" y="1783080"/>
            <a:ext cx="233172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blurRad="12700" dist="50800" dir="2700000" algn="bl" rotWithShape="0">
              <a:srgbClr val="C9D3DC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0" y="1965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A8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0" y="231343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325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tablas Silver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3657600" y="265176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Información ya corregida y separada por tema.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5870448" y="23317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AA7B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263640" y="1783080"/>
            <a:ext cx="233172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blurRad="12700" dist="50800" dir="2700000" algn="bl" rotWithShape="0">
              <a:srgbClr val="C9D3DC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46520" y="1965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A8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46520" y="231343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325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conjuntos Gold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6446520" y="265176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preparados para responder las preguntas.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8659368" y="23317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AA7B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052560" y="1783080"/>
            <a:ext cx="2331720" cy="1508760"/>
          </a:xfrm>
          <a:prstGeom prst="roundRect">
            <a:avLst>
              <a:gd name="adj" fmla="val 3636"/>
            </a:avLst>
          </a:prstGeom>
          <a:solidFill>
            <a:srgbClr val="083C58"/>
          </a:solidFill>
          <a:ln w="12700">
            <a:solidFill>
              <a:srgbClr val="083C58"/>
            </a:solidFill>
            <a:prstDash val="solid"/>
          </a:ln>
          <a:effectLst>
            <a:outerShdw blurRad="12700" dist="50800" dir="2700000" algn="bl" rotWithShape="0">
              <a:srgbClr val="C9D3DC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235440" y="1965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A8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235440" y="231343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gold_macroentorno.xlsx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9235440" y="265176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D7E5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 final utilizado como fuente en Power BI.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685800" y="37307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5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Conjuntos Gold usados en el dashboard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85800" y="4297680"/>
            <a:ext cx="498348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4297680"/>
            <a:ext cx="91440" cy="530352"/>
          </a:xfrm>
          <a:prstGeom prst="rect">
            <a:avLst/>
          </a:prstGeom>
          <a:solidFill>
            <a:srgbClr val="0B4B7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1832" y="444398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325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Economía</a:t>
            </a:r>
            <a:endParaRPr lang="en-US" sz="960" dirty="0"/>
          </a:p>
        </p:txBody>
      </p:sp>
      <p:sp>
        <p:nvSpPr>
          <p:cNvPr id="30" name="Text 28"/>
          <p:cNvSpPr/>
          <p:nvPr/>
        </p:nvSpPr>
        <p:spPr>
          <a:xfrm>
            <a:off x="2743200" y="444398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PIB · petróleo · IEE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6080760" y="4297680"/>
            <a:ext cx="498348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80760" y="4297680"/>
            <a:ext cx="91440" cy="530352"/>
          </a:xfrm>
          <a:prstGeom prst="rect">
            <a:avLst/>
          </a:prstGeom>
          <a:solidFill>
            <a:srgbClr val="1F8F6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36792" y="444398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325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económica</a:t>
            </a:r>
            <a:endParaRPr lang="en-US" sz="960" dirty="0"/>
          </a:p>
        </p:txBody>
      </p:sp>
      <p:sp>
        <p:nvSpPr>
          <p:cNvPr id="34" name="Text 32"/>
          <p:cNvSpPr/>
          <p:nvPr/>
        </p:nvSpPr>
        <p:spPr>
          <a:xfrm>
            <a:off x="8138160" y="444398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VAB por provincia y por sector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685800" y="5047488"/>
            <a:ext cx="498348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5800" y="5047488"/>
            <a:ext cx="91440" cy="530352"/>
          </a:xfrm>
          <a:prstGeom prst="rect">
            <a:avLst/>
          </a:prstGeom>
          <a:solidFill>
            <a:srgbClr val="E971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41832" y="519379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325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Empleo</a:t>
            </a:r>
            <a:endParaRPr lang="en-US" sz="960" dirty="0"/>
          </a:p>
        </p:txBody>
      </p:sp>
      <p:sp>
        <p:nvSpPr>
          <p:cNvPr id="38" name="Text 36"/>
          <p:cNvSpPr/>
          <p:nvPr/>
        </p:nvSpPr>
        <p:spPr>
          <a:xfrm>
            <a:off x="2743200" y="519379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empleo por sector y tendencia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6080760" y="5047488"/>
            <a:ext cx="498348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80760" y="5047488"/>
            <a:ext cx="91440" cy="530352"/>
          </a:xfrm>
          <a:prstGeom prst="rect">
            <a:avLst/>
          </a:prstGeom>
          <a:solidFill>
            <a:srgbClr val="7A52C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36792" y="519379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325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Educación y empresas</a:t>
            </a:r>
            <a:endParaRPr lang="en-US" sz="960" dirty="0"/>
          </a:p>
        </p:txBody>
      </p:sp>
      <p:sp>
        <p:nvSpPr>
          <p:cNvPr id="42" name="Text 40"/>
          <p:cNvSpPr/>
          <p:nvPr/>
        </p:nvSpPr>
        <p:spPr>
          <a:xfrm>
            <a:off x="8138160" y="519379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bachilleres · empresas · relación entre ambos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DE5EC">
                <a:alpha val="8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7A8A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PRÁCTICUM 1.2 · INGENIERÍA DE DATOS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9326880" y="651052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7A8A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MACROENTORNO ECUATORIANO · 04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B38A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RESULTADO · PÁGINA 1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2377440" y="475488"/>
            <a:ext cx="9235440" cy="0"/>
          </a:xfrm>
          <a:prstGeom prst="line">
            <a:avLst/>
          </a:prstGeom>
          <a:noFill/>
          <a:ln w="12700">
            <a:solidFill>
              <a:srgbClr val="DD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5895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5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Evolución de la economía ecuatoriana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tablero permite leer el PIB, su variación anual y la clasificación del periodo.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7360920" cy="4251960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blurRad="12700" dist="50800" dir="2700000" algn="bl" rotWithShape="0">
              <a:srgbClr val="B7C2CC">
                <a:alpha val="22000"/>
              </a:srgbClr>
            </a:outerShdw>
          </a:effectLst>
        </p:spPr>
      </p:sp>
      <p:pic>
        <p:nvPicPr>
          <p:cNvPr id="8" name="Image 0" descr="/mnt/data/dashboard_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79915"/>
            <a:ext cx="7269480" cy="409253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700784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blurRad="12700" dist="50800" dir="2700000" algn="bl" rotWithShape="0">
              <a:srgbClr val="C9D3DC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549640" y="186537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3C5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6,89 mil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549640" y="229514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PIB per cápita actual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8366760" y="2670048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blurRad="12700" dist="50800" dir="2700000" algn="bl" rotWithShape="0">
              <a:srgbClr val="C9D3DC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549640" y="28346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971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-2,66 %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549640" y="32644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variación del último año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366760" y="3639312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blurRad="12700" dist="50800" dir="2700000" algn="bl" rotWithShape="0">
              <a:srgbClr val="C9D3DC">
                <a:alpha val="1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549640" y="38039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3C5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Contracción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549640" y="423367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clasificación del ciclo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8366760" y="4617720"/>
            <a:ext cx="24688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49640" y="477316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325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rápida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549640" y="50474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línea muestra el tamaño del PIB; las barras muestran crecimiento o contracción.</a:t>
            </a:r>
            <a:endParaRPr lang="en-US" sz="770" dirty="0"/>
          </a:p>
        </p:txBody>
      </p:sp>
      <p:sp>
        <p:nvSpPr>
          <p:cNvPr id="21" name="Shape 18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DE5EC">
                <a:alpha val="8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7A8A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PRÁCTICUM 1.2 · INGENIERÍA DE DATOS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9326880" y="651052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7A8A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MACROENTORNO ECUATORIANO · 05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B38A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RESULTADO · PÁGINA 2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2377440" y="475488"/>
            <a:ext cx="9235440" cy="0"/>
          </a:xfrm>
          <a:prstGeom prst="line">
            <a:avLst/>
          </a:prstGeom>
          <a:noFill/>
          <a:ln w="12700">
            <a:solidFill>
              <a:srgbClr val="DD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5895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5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Actividad económica y empleo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página muestra dónde se concentra la producción y qué sector reúne más empleo.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7315200" cy="4251960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blurRad="12700" dist="50800" dir="2700000" algn="bl" rotWithShape="0">
              <a:srgbClr val="B7C2CC">
                <a:alpha val="22000"/>
              </a:srgbClr>
            </a:outerShdw>
          </a:effectLst>
        </p:spPr>
      </p:sp>
      <p:pic>
        <p:nvPicPr>
          <p:cNvPr id="8" name="Image 0" descr="/mnt/data/dashboard_p2_upda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92785"/>
            <a:ext cx="7223760" cy="406679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21040" y="1700784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blurRad="12700" dist="50800" dir="2700000" algn="bl" rotWithShape="0">
              <a:srgbClr val="C9D3DC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503920" y="186537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4B7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Comercio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503920" y="2295144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sector con mayor actividad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8321040" y="2670048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blurRad="12700" dist="50800" dir="2700000" algn="bl" rotWithShape="0">
              <a:srgbClr val="C9D3DC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503920" y="283464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3C5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Guayas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503920" y="326440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provincia con mayor actividad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321040" y="3639312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blurRad="12700" dist="50800" dir="2700000" algn="bl" rotWithShape="0">
              <a:srgbClr val="C9D3DC">
                <a:alpha val="1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503920" y="380390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8F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Agricultura pesca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503920" y="423367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sector con mayor empleo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8321040" y="4617720"/>
            <a:ext cx="25146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03920" y="477316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325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Interacción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503920" y="5047488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seleccionar una provincia, se entiende mejor qué sectores pesan más en ese territorio.</a:t>
            </a:r>
            <a:endParaRPr lang="en-US" sz="770" dirty="0"/>
          </a:p>
        </p:txBody>
      </p:sp>
      <p:sp>
        <p:nvSpPr>
          <p:cNvPr id="21" name="Shape 18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DE5EC">
                <a:alpha val="8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7A8A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PRÁCTICUM 1.2 · INGENIERÍA DE DATOS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9326880" y="651052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7A8A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MACROENTORNO ECUATORIANO · 06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B38A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RESULTADO · PÁGINA 3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2377440" y="475488"/>
            <a:ext cx="9235440" cy="0"/>
          </a:xfrm>
          <a:prstGeom prst="line">
            <a:avLst/>
          </a:prstGeom>
          <a:noFill/>
          <a:ln w="12700">
            <a:solidFill>
              <a:srgbClr val="DD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5895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5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Bachilleres y empresas por provincia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comparación ayuda a ver dónde hay más población estudiantil y presencia empresarial.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7406640" cy="4251960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blurRad="12700" dist="50800" dir="2700000" algn="bl" rotWithShape="0">
              <a:srgbClr val="B7C2CC">
                <a:alpha val="22000"/>
              </a:srgbClr>
            </a:outerShdw>
          </a:effectLst>
        </p:spPr>
      </p:sp>
      <p:pic>
        <p:nvPicPr>
          <p:cNvPr id="8" name="Image 0" descr="/mnt/data/dashboard_p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67046"/>
            <a:ext cx="7315200" cy="411826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12480" y="1700784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blurRad="12700" dist="50800" dir="2700000" algn="bl" rotWithShape="0">
              <a:srgbClr val="C9D3DC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595360" y="186537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3C5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mill.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595360" y="229514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de bachilleres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8412480" y="2670048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blurRad="12700" dist="50800" dir="2700000" algn="bl" rotWithShape="0">
              <a:srgbClr val="C9D3DC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595360" y="28346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4B7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181 mil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595360" y="32644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empresas activas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412480" y="3639312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blurRad="12700" dist="50800" dir="2700000" algn="bl" rotWithShape="0">
              <a:srgbClr val="C9D3DC">
                <a:alpha val="1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595360" y="38039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8F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Guayas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595360" y="423367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provincia con más bachilleres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8412480" y="4617720"/>
            <a:ext cx="24688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95360" y="477316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325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del cruce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595360" y="5047488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comparar bachilleres y empresas para identificar provincias con mayor presión o concentración.</a:t>
            </a:r>
            <a:endParaRPr lang="en-US" sz="770" dirty="0"/>
          </a:p>
        </p:txBody>
      </p:sp>
      <p:sp>
        <p:nvSpPr>
          <p:cNvPr id="21" name="Shape 18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DE5EC">
                <a:alpha val="8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7A8A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PRÁCTICUM 1.2 · INGENIERÍA DE DATOS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9326880" y="651052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7A8A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MACROENTORNO ECUATORIANO · 07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B38A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OBSTÁCULOS Y SOLUCIONES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2377440" y="475488"/>
            <a:ext cx="9235440" cy="0"/>
          </a:xfrm>
          <a:prstGeom prst="line">
            <a:avLst/>
          </a:prstGeom>
          <a:noFill/>
          <a:ln w="12700">
            <a:solidFill>
              <a:srgbClr val="DD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5895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5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Problemas encontrados y cómo se resolvieron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mayor aprendizaje fue que un buen tablero depende primero de datos bien preparados.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" y="1737360"/>
            <a:ext cx="498348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blurRad="12700" dist="50800" dir="2700000" algn="bl" rotWithShape="0">
              <a:srgbClr val="C9D3DC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737360"/>
            <a:ext cx="109728" cy="932688"/>
          </a:xfrm>
          <a:prstGeom prst="rect">
            <a:avLst/>
          </a:prstGeom>
          <a:solidFill>
            <a:srgbClr val="0B4B7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9019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5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anidados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78408" y="217627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aplicó normalización con pandas para convertir estructuras internas en tablas utilizables.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126480" y="1737360"/>
            <a:ext cx="498348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blurRad="12700" dist="50800" dir="2700000" algn="bl" rotWithShape="0">
              <a:srgbClr val="C9D3DC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737360"/>
            <a:ext cx="109728" cy="932688"/>
          </a:xfrm>
          <a:prstGeom prst="rect">
            <a:avLst/>
          </a:prstGeom>
          <a:solidFill>
            <a:srgbClr val="1F8F6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19019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5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Provincias con nombres distintos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19088" y="217627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estandarizaron los nombres para poder cruzar información entre fuentes.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5800" y="2971800"/>
            <a:ext cx="498348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blurRad="12700" dist="50800" dir="2700000" algn="bl" rotWithShape="0">
              <a:srgbClr val="C9D3DC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2971800"/>
            <a:ext cx="109728" cy="932688"/>
          </a:xfrm>
          <a:prstGeom prst="rect">
            <a:avLst/>
          </a:prstGeom>
          <a:solidFill>
            <a:srgbClr val="E971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313639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5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con números mal interpretados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78408" y="341071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consolidaron los Gold en Excel para evitar errores de formato en Power BI.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126480" y="2971800"/>
            <a:ext cx="498348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blurRad="12700" dist="50800" dir="2700000" algn="bl" rotWithShape="0">
              <a:srgbClr val="C9D3DC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2971800"/>
            <a:ext cx="109728" cy="932688"/>
          </a:xfrm>
          <a:prstGeom prst="rect">
            <a:avLst/>
          </a:prstGeom>
          <a:solidFill>
            <a:srgbClr val="7A52C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9088" y="313639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5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Archivos pesados en GitHub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19088" y="341071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dejó la base local excluida y se subieron solo datos y documentos necesarios.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325880" y="4800600"/>
            <a:ext cx="9464040" cy="621792"/>
          </a:xfrm>
          <a:prstGeom prst="roundRect">
            <a:avLst>
              <a:gd name="adj" fmla="val 7353"/>
            </a:avLst>
          </a:prstGeom>
          <a:solidFill>
            <a:srgbClr val="083C58"/>
          </a:solidFill>
          <a:ln w="12700">
            <a:solidFill>
              <a:srgbClr val="083C5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00200" y="5010912"/>
            <a:ext cx="8915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clave: antes de analizar, los datos deben estar limpios, consistentes y en un formato que Power BI pueda leer correctamente.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DE5EC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7A8A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PRÁCTICUM 1.2 · INGENIERÍA DE DATOS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9326880" y="651052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7A8A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MACROENTORNO ECUATORIANO · 08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3C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B6D5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CIERRE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2377440" y="475488"/>
            <a:ext cx="9235440" cy="0"/>
          </a:xfrm>
          <a:prstGeom prst="line">
            <a:avLst/>
          </a:prstGeom>
          <a:noFill/>
          <a:ln w="12700">
            <a:solidFill>
              <a:srgbClr val="2F61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00584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Conclusiones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85800" y="15727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5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reto permitió pasar de datos dispersos a un tablero claro, organizado y fácil de consultar.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" y="2423160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134F6A">
              <a:alpha val="88000"/>
            </a:srgbClr>
          </a:solidFill>
          <a:ln w="12700">
            <a:solidFill>
              <a:srgbClr val="2F61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6700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integrados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99923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D7E5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unieron datos económicos, laborales, educativos y empresariales en un solo proceso de análisis.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80560" y="2423160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134F6A">
              <a:alpha val="88000"/>
            </a:srgbClr>
          </a:solidFill>
          <a:ln w="12700">
            <a:solidFill>
              <a:srgbClr val="2F61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26700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Información lista para usar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9160" y="299923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D7E5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conjuntos Gold permitieron alimentar el dashboard desde gold_macroentorno.xlsx.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183880" y="2423160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134F6A">
              <a:alpha val="88000"/>
            </a:srgbClr>
          </a:solidFill>
          <a:ln w="12700">
            <a:solidFill>
              <a:srgbClr val="2F61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26700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Tablero útil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12480" y="299923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D7E5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tres páginas responden preguntas concretas del macroentorno ecuatoriano.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37660" y="4668012"/>
            <a:ext cx="3840480" cy="1143000"/>
          </a:xfrm>
          <a:prstGeom prst="roundRect">
            <a:avLst>
              <a:gd name="adj" fmla="val 4800"/>
            </a:avLst>
          </a:prstGeom>
          <a:solidFill>
            <a:srgbClr val="0A2C43"/>
          </a:solidFill>
          <a:ln w="12700">
            <a:solidFill>
              <a:srgbClr val="2F6178"/>
            </a:solidFill>
            <a:prstDash val="solid"/>
          </a:ln>
        </p:spPr>
        <p:txBody>
          <a:bodyPr/>
          <a:lstStyle/>
          <a:p>
            <a:endParaRPr lang="es-EC" dirty="0"/>
          </a:p>
        </p:txBody>
      </p:sp>
      <p:sp>
        <p:nvSpPr>
          <p:cNvPr id="16" name="Text 14"/>
          <p:cNvSpPr/>
          <p:nvPr/>
        </p:nvSpPr>
        <p:spPr>
          <a:xfrm>
            <a:off x="5530254" y="490804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Gracias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428317" y="535838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E5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y comentarios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63276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EC5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Bryan Raúl Andino Alcívar · Ingeniería de Datos 1.2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1041</Words>
  <Application>Microsoft Office PowerPoint</Application>
  <PresentationFormat>Panorámica</PresentationFormat>
  <Paragraphs>159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UTPL - DGTITD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Prácticum - Pipeline de datos del Macroentorno Ecuatoriano</dc:title>
  <dc:subject>Prácticum 1.2 Ingeniería de Datos</dc:subject>
  <dc:creator>Bryan Raúl Andino Alcívar</dc:creator>
  <cp:lastModifiedBy>raul andino</cp:lastModifiedBy>
  <cp:revision>2</cp:revision>
  <dcterms:created xsi:type="dcterms:W3CDTF">2026-07-23T15:30:20Z</dcterms:created>
  <dcterms:modified xsi:type="dcterms:W3CDTF">2026-07-23T15:38:20Z</dcterms:modified>
</cp:coreProperties>
</file>